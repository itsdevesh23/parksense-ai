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sh Munagala" userId="01cead3b16fd2cee" providerId="LiveId" clId="{C0275189-ACB5-46AC-8FFC-F0940540EB8C}"/>
    <pc:docChg chg="modSld">
      <pc:chgData name="Devesh Munagala" userId="01cead3b16fd2cee" providerId="LiveId" clId="{C0275189-ACB5-46AC-8FFC-F0940540EB8C}" dt="2026-10-12T11:47:49.029" v="1" actId="20577"/>
      <pc:docMkLst>
        <pc:docMk/>
      </pc:docMkLst>
      <pc:sldChg chg="modSp mod">
        <pc:chgData name="Devesh Munagala" userId="01cead3b16fd2cee" providerId="LiveId" clId="{C0275189-ACB5-46AC-8FFC-F0940540EB8C}" dt="2026-10-12T11:47:49.029" v="1" actId="20577"/>
        <pc:sldMkLst>
          <pc:docMk/>
          <pc:sldMk cId="0" sldId="256"/>
        </pc:sldMkLst>
        <pc:spChg chg="mod">
          <ac:chgData name="Devesh Munagala" userId="01cead3b16fd2cee" providerId="LiveId" clId="{C0275189-ACB5-46AC-8FFC-F0940540EB8C}" dt="2026-10-12T11:47:49.029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REVIEW 1 • 40 MARKS (PROBLEM FORMULATION &amp; DESIGN)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Federated Multi-Lot Smart Parking Forecasting</a:t>
            </a:r>
            <a:br/>
            <a:r>
              <a:t>Using Attention-Based LSTM on IoT Streams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Collaborative Short-Term Availability Forecasting with Decentralized Data Locality and Client Personalization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62895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rPr dirty="0"/>
              <a:t>TEAM DETAILS: TEAM NUMBER </a:t>
            </a:r>
            <a:r>
              <a:rPr lang="en-IN" dirty="0"/>
              <a:t>9</a:t>
            </a:r>
            <a:endParaRPr dirty="0"/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rPr dirty="0"/>
              <a:t>Member 1: Devesh Munagala (23BCT0149)   |   Member 2: Abhinav (23BCT0142)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rPr dirty="0"/>
              <a:t>Domain: Smart Cities • IoT Sensor Networks • Federated Deep Learning • Time-Series Forecasting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dirty="0"/>
              <a:t>Target Horizon: 30–60 Minute Ahead Availability Prediction  |  Primary Testbed: Birmingham Parking (UCI)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rPr dirty="0"/>
              <a:t>Sustainable Development Goals: SDG 11 (Sustainable Cities) &amp; SDG 9 (Infrastructure &amp; Innovation)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1 • 4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Problem Context, IoT Environment &amp; SDG Alignment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Real-world urban parking dilemmas, decentralized IoT streaming, and justified sustainable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2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1. Urban Congestion &amp; IoT Setup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Cruising Congestion: Drivers searching for vacant parking bays contribute substantially to downtown traffic congestion, travel delays, and excess fuel consumption (Shoup, 2006).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Continuous IoT Streams: In-ground magnetometers, barrier gates, and loop detectors emit continuous timestamped occupancy readings.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Short-Horizon Demand: Static occupancy signs become stale quickly; 30–60 minute predictive horizons are required for effective driver guidance and demand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2. The Data-Sharing Dilemma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Multi-Operator Fragmentation: Urban parking facilities are operated by independent municipal, commercial, and transit authorities.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Data Governance Constraints: Commercial confidentiality, competitive boundaries, and data-governance policies frequently limit raw sensor data pooling between operators.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Centralized vs. Federated: Centralized training requires pooling raw historical streams onto one server; federated learning offers an alternative where training occurs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3. Justified SDG Alignment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SDG 11: Sustainable Cities &amp; Communities</a:t>
            </a:r>
            <a:br/>
            <a:r>
              <a:t>Target 11.2 &amp; 11.6: Accurate short-term availability forecasting may help reduce cruising mileage, urban congestion, and associated vehicular emissions by providing timely availability signals.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SDG 9: Industry, Innovation &amp; Infrastructure</a:t>
            </a:r>
            <a:br/>
            <a:r>
              <a:t>Target 9.4 &amp; 9.5: Applies decentralized machine learning across existing municipal IoT infrastructure, supporting collaborative predictive models without requiring raw data centralization.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2 • 10 MARKS (PART 1)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Literature Survey &amp; Thematic Synthesis (30 Papers)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Systematic review of 30 peer-reviewed works meeting the 70% recency floor across 5 core research themes.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3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5 Core Thematic Silos &amp; Recency Audit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Survey Corpus Audit: Full literature matrix comprises 30 peer-reviewed works (detailed in Review 1 Report). 22 published in 2021–2026 (73.3% recency, exceeding the 70% rubric floor); 8 identified as seminal foundational works (exempted under rubric).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A: Smart Parking Forecasting (Stolfi 2017, Zhao 2022, Xiao 2023, Zhang MAT-LSTM 2024) — Transition from shallow fits to attention sequence deep learning; predominantly centralized.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B: Attention Time-Series DL (Vaswani 2017, Li 2022, Kemik 2024, Paliari 2021) — Temporal attention dynamically weights crucial transition intervals over standard recurrent units.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C: Federated Learning for IoT (McMahan 2017, Li FedProx 2020, Pandya 2023, Alterkawi &amp; Dib 2025) — Decentralized model aggregation; identifies statistical heterogeneity and lack of benchmarks as open gaps.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D: Federated Time-Series &amp; Mobility (Huang FedParking 2021, Sharma &amp; Kaur 2024, Attiah FedPark 2025, Rocco et al. 2025) — Collaborative FL proven viable; FedParking pioneered vehicular edge FL for parking estimation.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Theme E: Intelligent Transportation Systems (Chen &amp; Zhang 2024) — Situates privacy-preserving decentralized learning within urban mobility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Synthesis: Solved vs. Open Questions</a:t>
            </a:r>
          </a:p>
          <a:p>
            <a:pPr>
              <a:spcBef>
                <a:spcPts val="800"/>
              </a:spcBef>
              <a:defRPr sz="1019">
                <a:solidFill>
                  <a:srgbClr val="1E293B"/>
                </a:solidFill>
              </a:defRPr>
            </a:pPr>
            <a:r>
              <a:t>EVIDENCE ESTABLISHED IN PRIOR WORK:</a:t>
            </a:r>
            <a:br/>
            <a:r>
              <a:t>1. Deep sequence networks (LSTM/GRU) capture non-linear diurnal patterns better than static statistical baselines.</a:t>
            </a:r>
            <a:br/>
            <a:r>
              <a:t>2. Attention mechanisms improve short-term forecasting by focusing on informative historical sequence segments.</a:t>
            </a:r>
            <a:br/>
            <a:r>
              <a:t>3. FedAvg can collaboratively aggregate models across distributed IoT nodes without transferring raw data.</a:t>
            </a:r>
          </a:p>
          <a:p>
            <a:pPr>
              <a:spcBef>
                <a:spcPts val="800"/>
              </a:spcBef>
              <a:defRPr sz="1019">
                <a:solidFill>
                  <a:srgbClr val="1E293B"/>
                </a:solidFill>
              </a:defRPr>
            </a:pPr>
            <a:r>
              <a:t>LIMITATIONS IN THE SURVEYED LITERATURE:</a:t>
            </a:r>
            <a:br/>
            <a:r>
              <a:t>1. Parking studies focus predominantly on centralized datasets or single facilities.</a:t>
            </a:r>
            <a:br/>
            <a:r>
              <a:t>2. Federated mobility models primarily target highway networks (e.g., PeMS road graphs) rather than multi-lot parking streams.</a:t>
            </a:r>
            <a:br/>
            <a:r>
              <a:t>3. Lot-to-lot demand differences (e.g., commercial vs. transit lots) can degrade a single global model; personalization in smart parking remains under-investigated.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2 • 10 MARKS (PART 2)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Literature Comparison Table (Representative Anchor Papers)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Summary comparison matrix. Full 30-paper comparison matrix is documented in the project report / appendix.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4 of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Dataset / Domain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 / Finding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Technical Limitation</a:t>
                      </a:r>
                    </a:p>
                  </a:txBody>
                  <a:tcPr marL="54864" marR="54864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Stolfi et al. (2017)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Predicting Car Park Occupancy Rates in Smart Cities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Polynomial / Fourier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Birmingham Parking (UCI)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Demonstrated short-term predictability of municipal parking occupancy streams.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Linear/shallow models struggle with non-linear demand shifts; single-operator focus.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Huang et al. (2021)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FedParking: FL-Based Parking Space Estimation with Parked Vehicles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Federated LSTM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Parked Vehicle Testbed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Pioneered federated learning for parking space estimation via edge nodes (IEEE TVT).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Lacks temporal attention; no client personalization; omitted 6-tier comparative benchmark.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Zhang et al. (2024)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Parking Space Availability Prediction Using MAT-LSTM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Multi-Head Attention LSTM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Smart parking sensor streams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Multi-head attention yields 48% accuracy gain over standard LSTM on parking (MDPI IJGI).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Requires centralized raw data pooling; lacks federated multi-operator aggregation.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Sharma &amp; Kaur (2024)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Fog-Based Federated Time Series Forecasting for IoT Data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Fog Federated Forecaster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Decentralized IoT logs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Evaluated federated learning on non-IID IoT edge sensor streams (Springer JNSM).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Generic IoT benchmark; does not investigate parking domain personalization.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Rocco et al. (2025)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Fedflow: Personalized Federated Learning for Passenger Flow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Personalized FL (Fedflow)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Multi-operator transit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Local fine-tuning helped bridge operational differences across operators (Springer ML).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Applied to passenger flow; untested on continuous parking bay sensor streams.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Alterkawi &amp; Dib (2025)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i="1">
                          <a:solidFill>
                            <a:srgbClr val="1E293B"/>
                          </a:solidFill>
                        </a:defRPr>
                      </a:pPr>
                      <a:r>
                        <a:t>Federated Learning for Smart Cities: A Thematic Review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Thematic Review (116 studies)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Smart-city FL literature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Identified client heterogeneity and absence of standardized benchmarks as #1 open gaps (MDPI FI).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E293B"/>
                          </a:solidFill>
                        </a:defRPr>
                      </a:pPr>
                      <a:r>
                        <a:t>Survey article; does not implement an empirical parking model.</a:t>
                      </a:r>
                    </a:p>
                  </a:txBody>
                  <a:tcPr marL="54864" marR="54864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3 • 6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Traceable Research Gaps &amp; Proposed Technical Responses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Specific technical gaps derived from the surveyed literature matrix and mapped to our proposed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5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1: Single-Facility Focus in Parking Literature   [Traced to: Stolfi (2017), Dahiya (2021), Zhao MePark (2022) [P5, P11, P12]]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The surveyed parking forecasting literature primarily evaluates models on isolated facilities or single centralized systems.  --&gt;  Proposed Response: Simulate a collaborative multi-lot framework across distributed parking-lot clients partitioned by SystemCodeNumber.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41448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2: Reliance on Centralized Data Pooling   [Traced to: Huang (2022), Zeng (2022), Zhang MAT-LSTM (2024) [P13, P14, P23]]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Prior machine learning approaches typically require pooling raw occupancy records centrally.  --&gt;  Proposed Response: Apply FedAvg to aggregate model updates while keeping raw sensor records strictly local.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74136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3: Limited Attention Integration in Federated Parking   [Traced to: Huang FedParking (2021), Li (2022), Attiah FedPark (2025) [P9, P16, P27]]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FedParking (P9) demonstrated vehicular edge FL for parking but omitted temporal attention; MAT-LSTM (P23) proved attention boosts accuracy by 48% but remains centralized.  --&gt;  Proposed Response: Design an Attention-LSTM client forecaster to weight informative historical time steps under federated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06824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4: Inter-Lot Demand Heterogeneity (Non-IID Patterns)   [Traced to: Fallah Per-FedAvg (2020), Sharma &amp; Kaur (2024), Rocco Fedflow (2025) [P8, P25, P29]]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Different parking facilities exhibit distinct demand distributions, causing client drift that degrades a single global model.  --&gt;  Proposed Response: Incorporate local fine-tuning to personalize the aggregated model for individual parking lots.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9512"/>
            <a:ext cx="10728655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10362895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 b="1">
                <a:solidFill>
                  <a:srgbClr val="1E3A8A"/>
                </a:solidFill>
              </a:defRPr>
            </a:pPr>
            <a:r>
              <a:t>Gap 5: Need for Comprehensive Multi-Model Benchmarking   [Traced to: Paliari (2021), Xiao (2023), Alterkawi &amp; Dib (2025) [P10, P20, P30]]</a:t>
            </a:r>
          </a:p>
          <a:p>
            <a:pPr>
              <a:spcBef>
                <a:spcPts val="200"/>
              </a:spcBef>
              <a:defRPr sz="960">
                <a:solidFill>
                  <a:srgbClr val="1E293B"/>
                </a:solidFill>
              </a:defRPr>
            </a:pPr>
            <a:r>
              <a:t>Unsolved Issue: Existing studies lack unified comparisons across statistical, ML, centralized DL, and federated models under identical splits.  --&gt;  Proposed Response: Benchmark ARIMA, XGBoost, LSTM, Centralized Attention-LSTM, Federated, and Personalized FL under standardized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4 • 5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Problem Statement, Measurable Objectives &amp; Scope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Precise one-sentence problem formulation, 4 achievable semester goals, and strict scope boundary declarations.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6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FORMAL PROBLEM STATEMENT (EXACT ONE-SENTENCE DEFINITION)</a:t>
            </a:r>
          </a:p>
          <a:p>
            <a:pPr>
              <a:spcBef>
                <a:spcPts val="400"/>
              </a:spcBef>
              <a:defRPr sz="1150" b="1">
                <a:solidFill>
                  <a:srgbClr val="1E3A8A"/>
                </a:solidFill>
              </a:defRPr>
            </a:pPr>
            <a:r>
              <a:t>“Existing parking availability forecasting approaches often rely on centralized data pooling or isolated single-facility models, creating commercial and governance data-sharing barriers; therefore, a privacy-preserving federated attention-based LSTM framework with local personalization is required to forecast 30–60 minute parking availability across distributed IoT streams while keeping raw occupancy data local.”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621792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4 Measurable Semester Objectives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1 (Model Design): Develop an Attention-LSTM neural network to capture temporal dependencies for 30–60 minute ahead parking availability forecasting.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2 (Federated Architecture): Implement a decentralized FedAvg framework across simulated parking lots, aggregating model parameters without transferring raw occupancy data.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3 (Personalization): Implement local fine-tuning on client edge nodes to evaluate whether personalization mitigates inter-lot demand heterogeneity.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Objective 4 (Benchmarking): Compare all 6 models: (1) ARIMA, (2) XGBoost, (3) LSTM, (4) Centralized Attention-LSTM, (5) Federated Attention-LSTM, and (6) Personalized Federated Attention-LSTM across MAE, RMSE, MAPE, communication rounds, and the federated–centralized error gap.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834640"/>
            <a:ext cx="4327855" cy="3291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39620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Declared Scope Boundaries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STRICTLY IN SCOPE:</a:t>
            </a:r>
            <a:br/>
            <a:r>
              <a:t>• 30–60 minute multi-horizon forecasting.</a:t>
            </a:r>
            <a:br/>
            <a:r>
              <a:t>• Multi-client federated simulation using real IoT logs.</a:t>
            </a:r>
            <a:br/>
            <a:r>
              <a:t>• Attention-LSTM local client models.</a:t>
            </a:r>
            <a:br/>
            <a:r>
              <a:t>• Comparative evaluation across the 6 declared models.</a:t>
            </a:r>
            <a:br/>
            <a:r>
              <a:t>• Communication round convergence analysis.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EXPLICITLY OUT OF SCOPE (NON-GOALS):</a:t>
            </a:r>
            <a:br/>
            <a:r>
              <a:t>• Physical IoT sensor hardware deployment.</a:t>
            </a:r>
            <a:br/>
            <a:r>
              <a:t>• Commercial payment gateway integration.</a:t>
            </a:r>
            <a:br/>
            <a:r>
              <a:t>• Bay reservation &amp; license-plate recognition.</a:t>
            </a:r>
            <a:br/>
            <a:r>
              <a:t>• Turn-by-turn vehicle navigation systems.</a:t>
            </a:r>
            <a:br/>
            <a:r>
              <a:t>• Cryptographic differential privacy / SMPC.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• 8 MARKS (PART 1)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Proposed System Architecture &amp; Block Diagram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Decentralized multi-tier framework linking IoT data feeds, edge Attention-LSTM training, and central FedAvg aggregation.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7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TIER 1: DISTRIBUTED IoT SENSOR STREAMS (INDEPENDENT CLIENTS)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Parking Lot 1 (Commuter Lot)  |  Parking Lot 2 (Retail Center)  |  Parking Lot 3 (Municipal)  ...  Parking Lot K</a:t>
            </a:r>
            <a:br/>
            <a:r>
              <a:t>• Continuous sensor streams: Occupancy counts, capacity, timestamps  • Raw sensor data remains strictly local at each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728655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TIER 2: CLIENT EDGE PROCESSING &amp; LOCAL ATTENTION-LSTM TRAINING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Preprocessing: Chronological sliding-window sequences [t - T_in : t]  • Normalization to Availability Ratio in [0, 1]</a:t>
            </a:r>
            <a:br/>
            <a:r>
              <a:t>• Neural Model: LSTM sequence layers generate hidden state representations  • Temporal attention computes alignment weights alpha_t</a:t>
            </a:r>
            <a:br/>
            <a:r>
              <a:t>• Local Optimization: Client trains for E local epochs on private loss to update local parameters w_k^(t+1)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TIER 3: FEDERATED COORDINATION SERVER (WEIGHT AGGREGATION - FedAvg)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Uplink Transmission: Participating clients send model weights w_k only (No raw occupancy records transmitted)</a:t>
            </a:r>
            <a:br/>
            <a:r>
              <a:t>• Aggregation Engine: Server computes sample-weighted average:  w_(t+1) = Sum (n_k / n) * w_k^(t+1)</a:t>
            </a:r>
            <a:br/>
            <a:r>
              <a:t>• Downlink Broadcast: Updated global parameter vector w_(t+1) broadcasted back to all participating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TIER 4: LOCAL CLIENT PERSONALIZATION &amp; SHORT-TERM AVAILABILITY FORECAST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Personalization: Local fine-tuning adapts the received global model to lot-specific demand patterns</a:t>
            </a:r>
            <a:br/>
            <a:r>
              <a:t>• Output Horizon: Generates 30–60 minute ahead occupancy and space availability forecasts with MAE/RMSE benchmarking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• 8 MARKS (PART 2)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Comparative Methodology &amp; Algorithmic Workflow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Rigorous 6-model benchmarking protocol alongside mathematical steps of Federated Averaging and personalization.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8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6-Tier Comparative Model Protocol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1: Classical Statistical Baseline — ARIMA(p, d, q)</a:t>
            </a:r>
            <a:br/>
            <a:r>
              <a:t>Captures linear autoregressive trends; provides traditional reference point.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2: Machine Learning Baseline — XGBoost</a:t>
            </a:r>
            <a:br/>
            <a:r>
              <a:t>Gradient-boosted decision trees trained on engineered temporal/lag features.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3: Standard Deep Sequence Baseline — Plain LSTM</a:t>
            </a:r>
            <a:br/>
            <a:r>
              <a:t>Recurrent neural network capturing non-linear sequential dependencies.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4: Centralized DL Reference — Centralized Attention-LSTM</a:t>
            </a:r>
            <a:br/>
            <a:r>
              <a:t>All data pooled centrally; provides a reference benchmark for accuracy.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5: Proposed Decentralized Model — Federated Attention-LSTM</a:t>
            </a:r>
            <a:br/>
            <a:r>
              <a:t>FedAvg aggregation over distributed clients; keeps raw sensor logs local.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Model 6: Proposed Personalized Model — Personalized Fed-Attention-LSTM</a:t>
            </a:r>
            <a:br/>
            <a:r>
              <a:t>Local fine-tuning on client edge nodes to adapt to lot heterogeneity.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284C7"/>
                </a:solidFill>
              </a:defRPr>
            </a:pPr>
            <a:r>
              <a:t>Algorithmic Workflow of FedAvg &amp; Personalization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1 (Global Init): Server initializes global parameter vector w_0 and broadcasts to all K simulated parking clients.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2 (Local Edge Update): In communication round t, client k trains for E local epochs of SGD on private loss L_k(w; D_k):</a:t>
            </a:r>
            <a:br/>
            <a:r>
              <a:t>   w_k^(t+1) &lt;-- w_t - eta * Grad(L_k)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3 (Uplink Transmission): Each client sends its updated weights w_k^(t+1) to server. Zero raw records are shared.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4 (Federated Aggregation): Server computes weighted average:</a:t>
            </a:r>
            <a:br/>
            <a:r>
              <a:t>   w_(t+1) = Sum_{k=1}^K (n_k / n) * w_k^(t+1)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5 (Broadcast &amp; Convergence): Server transmits w_(t+1) back. Repeats for T rounds until validation error converges.</a:t>
            </a:r>
          </a:p>
          <a:p>
            <a:pPr>
              <a:spcBef>
                <a:spcPts val="500"/>
              </a:spcBef>
              <a:defRPr sz="980">
                <a:solidFill>
                  <a:srgbClr val="1E293B"/>
                </a:solidFill>
              </a:defRPr>
            </a:pPr>
            <a:r>
              <a:t>• Step 6 (Personalization Phase): Client fine-tunes the global model on its private training data for few local epochs.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5 / 6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Experimental Testbed, Datasets &amp; Preprocessing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Directly verified UCI sensor parameters, planned preprocessing steps, and target formulation.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9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Primary Testbed: Birmingham (UCI)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Source: UCI ML Repository (Stolfi et al., 2017).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Direct CSV Verification: Exactly 30 unique parking facilities (SystemCodeNumber) verified from dataset.csv; 35,717 records; 4 raw attributes.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Observed Characteristics: Daytime operating hours (07:46 to 16:30 daily) from Oct 4 to Dec 19, 2016. Nominal 30-min sampling with empirical variations (27–33 min intervals).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Planned Preprocessing Steps:</a:t>
            </a:r>
            <a:br/>
            <a:r>
              <a:t>1. Regular Grid Resampling: Resampling observations onto an exact uniform 30-min grid.</a:t>
            </a:r>
            <a:br/>
            <a:r>
              <a:t>2. Anomaly Cleansing: Handling sensor artifacts (e.g. negative occupancy readings).</a:t>
            </a:r>
            <a:br/>
            <a:r>
              <a:t>3. Imputation: Forward-fill/linear imputation for missing daytime interval gaps.</a:t>
            </a:r>
          </a:p>
          <a:p>
            <a:pPr>
              <a:spcBef>
                <a:spcPts val="500"/>
              </a:spcBef>
              <a:defRPr sz="950">
                <a:solidFill>
                  <a:srgbClr val="1E293B"/>
                </a:solidFill>
              </a:defRPr>
            </a:pPr>
            <a:r>
              <a:t>• Client Partition: Maps each of the 30 car parks to an independent federated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Prediction Target &amp; Secondary Data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Formal Prediction Target:</a:t>
            </a:r>
            <a:br/>
            <a:r>
              <a:t>Availability Ratio: y_t = (Capacity - Occupancy) / Capacity in [0, 1].</a:t>
            </a:r>
            <a:br/>
            <a:r>
              <a:t>Models train directly on continuous ratio y_t to normalize varying lot capacities (ranging 220 to 4,675 spaces).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Physical Output Conversion:</a:t>
            </a:r>
            <a:br/>
            <a:r>
              <a:t>Per-lot vacant spaces: Free = y_t * Capacity (reported for practical operational interpretability).</a:t>
            </a:r>
          </a:p>
          <a:p>
            <a:pPr>
              <a:spcBef>
                <a:spcPts val="600"/>
              </a:spcBef>
              <a:defRPr sz="960">
                <a:solidFill>
                  <a:srgbClr val="1E293B"/>
                </a:solidFill>
              </a:defRPr>
            </a:pPr>
            <a:r>
              <a:t>• Secondary Reference Datasets:</a:t>
            </a:r>
            <a:br/>
            <a:r>
              <a:t>• Melbourne On-Street: Bay magnetometer events.</a:t>
            </a:r>
            <a:br/>
            <a:r>
              <a:t>• SFpark: Sensor logs with dynamic occupancy.</a:t>
            </a:r>
            <a:br/>
            <a:r>
              <a:t>Used as reference testbeds to validate sensor aggregation pipelines and examine cross-city generalizability.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Preprocessing &amp; Data Partitioning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Sliding Window Generation: Input window of past T_in steps (e.g. 12 steps = 6 hrs) mapped to output horizon T_out (1–2 steps = 30–60 min ahead).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Chronological Splitting:</a:t>
            </a:r>
            <a:br/>
            <a:r>
              <a:t>• Train Set: 70% (Chronological past)</a:t>
            </a:r>
            <a:br/>
            <a:r>
              <a:t>• Validation Set: 15%</a:t>
            </a:r>
            <a:br/>
            <a:r>
              <a:t>• Test Set: 15% (Unseen future)</a:t>
            </a:r>
            <a:br/>
            <a:r>
              <a:t>Strict zero-lookahead split prevents future data leakage across all clients.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• Edge Client Mapping: Each lot acts as an isolated client training locally on its chronological partition.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RUBRIC CRITERION 6 • 4 MARKS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Evaluation Metrics, Research Hypotheses &amp; Deliverables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Quantitative evaluation formulas, zero-handling, qualitative testable hypotheses, and deliverables.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10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Evaluation Metrics &amp; Formulations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Primary Loss (Ratio in [0, 1]): MAE and RMSE evaluated directly on y_t across all time steps, independent of lot scale.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Per-Lot Space Count Metric: Because capacities differ, physical error is calculated per lot k:</a:t>
            </a:r>
            <a:br/>
            <a:r>
              <a:t>   MAE_spaces^(k) = MAE_ratio^(k) * Capacity_k</a:t>
            </a:r>
            <a:br/>
            <a:r>
              <a:t>Overall space error is reported as the mean across lots: (1/K) Sum MAE_spaces^(k).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Zero-Handled MAPE (%): To prevent division-by-zero when a lot is full (y_t = 0), MAPE is smoothed using epsilon = 0.05:</a:t>
            </a:r>
            <a:br/>
            <a:r>
              <a:t>   MAPE = (100%/N) Sum (|y_t - y_hat_t| / max(y_t, epsilon)).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Variance &amp; Comm. Rounds: Std. deviation of error across lots; rounds to converge.</a:t>
            </a:r>
          </a:p>
          <a:p>
            <a:pPr>
              <a:spcBef>
                <a:spcPts val="500"/>
              </a:spcBef>
              <a:defRPr sz="919">
                <a:solidFill>
                  <a:srgbClr val="1E293B"/>
                </a:solidFill>
              </a:defRPr>
            </a:pPr>
            <a:r>
              <a:t>• Error Gap: Delta_FC = MAE(Fed) - MAE(Cent) reported in absolute and relative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0876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8576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Testable Research Hypotheses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1 (Attention Mechanism):</a:t>
            </a:r>
            <a:br/>
            <a:r>
              <a:t>Attention-LSTM may reduce forecasting error compared with plain LSTM by dynamically weighting informative historical time steps during peak transition periods.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2 (Federated Feasibility):</a:t>
            </a:r>
            <a:br/>
            <a:r>
              <a:t>Federated Attention-LSTM may approach the forecasting accuracy of the centralized reference model while maintaining raw data locality.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Hypothesis 3 (Personalization Efficacy):</a:t>
            </a:r>
            <a:br/>
            <a:r>
              <a:t>Local client fine-tuning may improve forecasting accuracy and reduce error disparity for heterogeneous parking facilities compared to pure global FedAvg.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08760"/>
            <a:ext cx="3328416" cy="4572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69164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Deliverables &amp; Tools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1: Modular PyTorch simulation codebase implementing the 6 comparative models.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2: Comprehensive empirical benchmark report documenting MAE, RMSE, MAPE, rounds, and per-lot performance.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Deliverable 3: Research paper manuscript prepared in IEEE conference template targeting Review 2 publication marks.</a:t>
            </a:r>
          </a:p>
          <a:p>
            <a:pPr>
              <a:spcBef>
                <a:spcPts val="600"/>
              </a:spcBef>
              <a:defRPr sz="980">
                <a:solidFill>
                  <a:srgbClr val="1E293B"/>
                </a:solidFill>
              </a:defRPr>
            </a:pPr>
            <a:r>
              <a:t>• Tools &amp; Feasibility:</a:t>
            </a:r>
            <a:br/>
            <a:r>
              <a:t>Python 3.11, PyTorch, Scikit-learn, Statsmodels (ARIMA), Matplotlib/Seaborn. Fully feasible on available workstation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REVIEW 1 DOCUMENTATION</a:t>
            </a:r>
          </a:p>
          <a:p>
            <a:pPr>
              <a:defRPr sz="2100" b="1">
                <a:solidFill>
                  <a:srgbClr val="1E3A8A"/>
                </a:solidFill>
                <a:latin typeface="Calibri"/>
              </a:defRPr>
            </a:pPr>
            <a:r>
              <a:t>Selected Key References (12 Representative Anchors)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publication metadata. Complete 30-paper bibliography provided in Project Report &amp; Appendix.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27648"/>
            <a:ext cx="107286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Review 1: Problem Formulation &amp; Design (40 Marks) | Team 4 | Federated Multi-Lot Smart Parking | Slide 11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Smart Parking &amp; Sequence Forecasting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[1] D. H. Stolfi, E. Alba, and X. Yao, "Predicting Car Park Occupancy Rates in Smart Cities," in Smart-CT, Springer LNCS, 2017, pp. 107–117.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[2] A. Vaswani et al., "Attention is all you need," in Proc. Advances in Neural Information Processing Systems (NeurIPS), 2017, pp. 5998–6008.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[3] I. Paliari, A. Karanikola, and S. Kotsiantis, "A comparison of optimized LSTM, XGBOOST and ARIMA in Time Series," in Proc. IEEE IISA, 2021, pp. 1–7.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[4] Z. Li, H. Xu, X. Gao et al., "Fusion Attention Mechanism Bidirectional LSTM for Traffic Flow," J. Intell. Transp. Syst., vol. 26, pp. 481–496, 2022.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[5] F. Zhang, K. Shang, L. Yan et al., "Prediction of Parking Space Availability Using Improved MAT-LSTM," ISPRS Int. J. Geo-Inf., 13(5), art. 151, 2024.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[6] H. Kemik, T. Dalyan, and M. Aydogan, "Smart Solutions for Mega-Cities: Utilizing LSTM and MHA in Parking," ISPRS Int. J. Geo-Inf., 13(12), art. 449, 2024.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508760"/>
            <a:ext cx="5175504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691640"/>
            <a:ext cx="480974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Federated Learning &amp; Distributed IoT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[7] B. McMahan et al., "Communication-efficient learning of deep networks from decentralized data," in Proc. AISTATS, PMLR, 2017, pp. 1273–1282.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[8] A. Fallah, A. Mokhtari, and A. Ozdaglar, "Personalized Federated Learning (Per-FedAvg)," in Proc. NeurIPS, 2020, pp. 3557–3568.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[9] X. Huang, P. Li, R. Yu et al., "FedParking: A Federated Learning Based Parking Space Estimation," IEEE Trans. Veh. Technol., 70(9), pp. 9355–9368, 2021.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[10] M. Sharma and P. Kaur, "Fog-based Federated Time Series Forecasting for IoT Data," J. Netw. Syst. Manage. (Springer), vol. 32, art. 26, 2024.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[11] F. Rocco di Torrepadula et al., "Fedflow: A Personalized FL Framework for Passenger Flow," Machine Learning (Springer), vol. 114, art. 166, 2025.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[12] L. Alterkawi and F. K. Dib, "Federated Learning for Smart Cities: A Thematic Review," Future Internet (MDPI), vol. 17, no. 12, art. 545,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4060</Words>
  <Application>Microsoft Office PowerPoint</Application>
  <PresentationFormat>Widescreen</PresentationFormat>
  <Paragraphs>196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Devesh Munagala</cp:lastModifiedBy>
  <cp:revision>1</cp:revision>
  <dcterms:created xsi:type="dcterms:W3CDTF">2013-01-27T09:14:16Z</dcterms:created>
  <dcterms:modified xsi:type="dcterms:W3CDTF">2026-10-12T11:47:58Z</dcterms:modified>
  <cp:category/>
</cp:coreProperties>
</file>